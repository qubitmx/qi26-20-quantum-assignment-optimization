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EXECUTABLE ARTIFACT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01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1247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 QUBO–QAOA Benchmark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Generalized Bipartite Assignment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NISQ Hardware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comparison of classical optimization, Standard QAOA, and Grover-Mixer QAOA (GM-QAOA)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small generalized bipartite-assignment instances — ideal simulation and IBM Quantum hardware.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positive finding: GM-QAOA achieves perfect feasibility and substantially higher optimal probabilities.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algorithms recovered the optimal solution on real IBM Quantum hardware.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01  · 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02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  ·  ~15 minutes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664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Generalized bipartite assignment as QUBO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441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reproducible NISQ benchmark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218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Formulation, instances, classical baselines, QAOA &amp; GM-QAOA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What Worked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995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simulations + IBM Quantum hardware (positive findings)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773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summary of verified achievements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257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5257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claimed + clear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02  · 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03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Assignment Problem as QUBO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&amp; Variables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 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{a1 ... an}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 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{r1 ... rm}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vars  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xij in {0,1}  (agent i → resource j)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  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in R^{n×m}  (benefit of assignment)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Constraints (1-to-1)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affinity score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∑ Sij xij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assigned exactly once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∑j xij = 1   ∀i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resource over-assigned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∑i xij ≤ 1   ∀j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1247120" cy="15544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minimization form used by QAOA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8463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Q(x) = −∑ Sij xij  +  λA ∑i (∑j xij − 1)²  +  λR ∑j ∑i&lt;k xij xkj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weights λ &gt; Smax guarantee that every feasible optimum of the unconstrained QUBO is also optimal for the original constrained problem.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03  · 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04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BENCHMARK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Controlled, Reproducible NISQ Benchmark?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577840" cy="196596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17320"/>
            <a:ext cx="109728" cy="1965960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Credibility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algorithms must be compared against strong classical baselines (exact, Hungarian, greedy, simulated annealing) on identical instances and scoring.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577840" cy="196596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417320"/>
            <a:ext cx="109728" cy="1965960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NISQ Reality Check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depth, transpilation overhead, and measurement noise dominate small-instance behavior. Ideal simulation alone is insufficient.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5577840" cy="196596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611880"/>
            <a:ext cx="109728" cy="1965960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Constraint-Preserving Mixers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297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GM-QAOA (Bärtschi &amp; Eidenbenz, 2020) keeps the search inside the feasible subspace — a promising alternative to pure penalty methods.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611880"/>
            <a:ext cx="5577840" cy="196596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3611880"/>
            <a:ext cx="109728" cy="1965960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4297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backed by an explicit evidence checklist. The notebook exports CSVs, compliance matrices, and a claims checklist so results cannot be overstated.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04  · 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05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Seven-Stage Research Pipeline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508760" y="1737360"/>
            <a:ext cx="822960" cy="0"/>
          </a:xfrm>
          <a:prstGeom prst="line">
            <a:avLst/>
          </a:prstGeom>
          <a:noFill/>
          <a:ln w="19050">
            <a:solidFill>
              <a:srgbClr val="6B63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QUBO derivation,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bounds,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extension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1417320"/>
            <a:ext cx="640080" cy="64008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0" y="1737360"/>
            <a:ext cx="822960" cy="0"/>
          </a:xfrm>
          <a:prstGeom prst="line">
            <a:avLst/>
          </a:prstGeom>
          <a:noFill/>
          <a:ln w="19050">
            <a:solidFill>
              <a:srgbClr val="6B63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2240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31546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fixed instances,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validation,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seeds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1417320"/>
            <a:ext cx="640080" cy="64008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92040" y="1737360"/>
            <a:ext cx="822960" cy="0"/>
          </a:xfrm>
          <a:prstGeom prst="line">
            <a:avLst/>
          </a:prstGeom>
          <a:noFill/>
          <a:ln w="19050">
            <a:solidFill>
              <a:srgbClr val="6B63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240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1546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Exact, Hungarian,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greedy, SA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score metric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1417320"/>
            <a:ext cx="640080" cy="64008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0" y="1737360"/>
            <a:ext cx="822960" cy="0"/>
          </a:xfrm>
          <a:prstGeom prst="line">
            <a:avLst/>
          </a:prstGeom>
          <a:noFill/>
          <a:ln w="19050">
            <a:solidFill>
              <a:srgbClr val="6B63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240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QAOA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1546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∈ {1,2,3}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Ising mapping,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TQA init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43800" y="1417320"/>
            <a:ext cx="640080" cy="64008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275320" y="1737360"/>
            <a:ext cx="822960" cy="0"/>
          </a:xfrm>
          <a:prstGeom prst="line">
            <a:avLst/>
          </a:prstGeom>
          <a:noFill/>
          <a:ln w="19050">
            <a:solidFill>
              <a:srgbClr val="6B63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240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GM-QAOA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31546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subspace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Grover mixer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35440" y="1417320"/>
            <a:ext cx="640080" cy="64008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35" name="Text 33"/>
          <p:cNvSpPr/>
          <p:nvPr/>
        </p:nvSpPr>
        <p:spPr>
          <a:xfrm>
            <a:off x="92354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966960" y="1737360"/>
            <a:ext cx="822960" cy="0"/>
          </a:xfrm>
          <a:prstGeom prst="line">
            <a:avLst/>
          </a:prstGeom>
          <a:noFill/>
          <a:ln w="19050">
            <a:solidFill>
              <a:srgbClr val="6B63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2240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NISQ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23960" y="31546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ibm_marrakesh,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927080" y="1417320"/>
            <a:ext cx="640080" cy="64008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40" name="Text 38"/>
          <p:cNvSpPr/>
          <p:nvPr/>
        </p:nvSpPr>
        <p:spPr>
          <a:xfrm>
            <a:off x="10927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0515600" y="2240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515600" y="31546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checklist,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matrix,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CSVs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983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Phase-1 Instances (fixed, deterministic)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reference_3×3  (one-to-one)   ·   one_to_one_4×4   ·   exact_capacity_4×2  with C = [2,2]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experiments share the same affinity matrices, scoring function, and feasibility decoder.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05  ·  RESULTS — CLASSICAL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06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Baselines — Strong Reference Points Established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1280160"/>
                <a:gridCol w="1280160"/>
                <a:gridCol w="118872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Feasible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(s)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reference_3×3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/ Hungarian / greedy / SA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1.91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one_to_one_4×4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/ Hungarian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0.004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one_to_one_4×4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one_to_one_4×4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simulated annealing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exact_capacity_4×2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/ greedy / SA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1.11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Positive: Exact enumeration and the Hungarian algorithm recover the global optimum on every Phase-1 instance. This provides a reliable ground truth against which quantum methods are fairly compared.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05  ·  RESULTS — STANDARD QAOA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07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SWEEP p=1,2,3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QAOA — Ideal Statevector Depth Sweep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1554480"/>
                <a:gridCol w="1554480"/>
                <a:gridCol w="1463040"/>
                <a:gridCol w="1188720"/>
                <a:gridCol w="11887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Feas. Prob.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Opt. Prob.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reference_3×3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reference_3×3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reference_3×3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one_to_one_4×4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one_to_one_4×4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one_to_one_4×4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exact_capacity_4×2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exact_capacity_4×2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exact_capacity_4×2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43.99%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1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6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Positive: On the capacity instance, feasibility rises steadily with depth (up to ~44%). Optimal scores are recovered in multiple (instance, p) combinations. QAOA is functional.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05  ·  RESULTS — GM-QAOA  (KEY POSITIVE)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08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SUBSPACE WORKS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Grover-Mixer QAOA — Ideal Simulation (p = 1)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Clearest positive result of Phase 1: the feasible-subspace mixer works as designed.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657600" cy="306324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reference_3×3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Prob.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Prob.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score 2.70  ·  Ideal depth 1 062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1554480"/>
            <a:ext cx="3657600" cy="306324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one_to_one_4×4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Prob.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Prob.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48056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score 3.08  ·  Ideal depth 20 252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1554480"/>
            <a:ext cx="3657600" cy="306324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exact_capacity_4×2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Prob.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32104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Prob.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50.4%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32104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score 3.25  ·  Ideal depth 395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GM-QAOA prepares an equal superposition of feasible assignments and applies a subspace-preserving mixer. Feasibility = 1.0 and initial-state fidelity = 1.0 verified on all three instances. Optimal probabilities are substantially higher than standard QAOA.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05  ·  RESULTS — HARDWARE  (POSITIVE)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09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QUANTUM SUCCESS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Quantum Execution — ibm_marrakesh (exact_capacity_4×2, p = 1)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algorithms recovered the optimal solution on real hardware.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486400" cy="38404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QAOA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 observed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1 024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feasible score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3.25 (optimal)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gap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0.00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Transpiled depth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143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Two-qubit gates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63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ID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d9vl8qfo3ppc73akfak0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38404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GM-QAOA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 observed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1 024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feasible score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3.25 (optimal)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gap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0.00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Transpiled depth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1 357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Two-qubit gates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496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ID</a:t>
            </a:r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d9vl8qfo3ppc73akfak0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06  ·  WHAT WORKED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10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ACHIEVEMENTS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Positive Results of Phase 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09728" cy="91440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325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GM-QAOA works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feasibility (1.0) and verified initial-state fidelity (1.0). Optimal probabilities substantially higher than standard QAOA on the same instances.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09728" cy="91440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23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QAOA is functional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Recovers optimal scores in multiple settings. On the capacity instance, feasibility probability rises steadily with circuit depth.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109728" cy="91440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success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840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algorithms executed on ibm_marrakesh and recovered the optimal solution (score 3.25, gap 0.00) for the tested instance.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109728" cy="91440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17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 advance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937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general QUBO for 1-to-1 and exact-capacity cases, strong classical baselines, full reproducibility, and an explicit claims checklist.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07  ·  CONCLUSIONS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11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SUMMARY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Phase-1 Conclusions (Balanced)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generalized QUBO correctly supports both one-to-one and exact-capacity (C=[2,2]) formulations with justified penalty bounds.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GM-QAOA successfully preserves the feasible subspace (feasibility = 1.0, fidelity = 1.0) and delivers higher optimal probabilities than standard QAOA.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QAOA is functional: it recovers optimal scores and shows improving feasibility with depth on the capacity instance.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749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algorithms recovered the optimal solution on real IBM Quantum hardware for the tested instance.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502920" cy="502920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quantum-advantage or general scalability claim is made. The results establish a clean, reproducible foundation for future work.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08  ·  LIMITATIONS &amp; FUTURE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12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Phase 1 Explicitly Does Not Claim  ·  Next Steps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486400" cy="42976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Fixed small instances only (n ≤ 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GM-QAOA state preparation is exact fixed-size, not a general scalable procedure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results limited to one backend and one instance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noise-aware training or systematic error-mitigation study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Circuit depth of GM-QAOA grows rapidly with the number of feasible states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Quantum advantage is neither claimed nor tested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486400" cy="42976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Larger and more varied synthetic instances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Systematic noise studies and error-mitigation techniques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approximate state preparation for the feasible subspace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Multi-backend hardware campaigns with statistical aggregation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Comparison against additional constraint-preserving mixers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of capacity-constrained industrial instances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8A82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09  ·  CLOSE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3095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QUBO–QAOA BENCHMARK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8A82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13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END  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techniques work.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feasible-subspace mixer works.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reaches real hardware.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science is transparent.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does not claim quantum advantage. It delivers a clean, reproducible demonstration that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QAOA and especially GM-QAOA function correctly on generalized bipartite assignment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both can recover optimal solutions on present-day NISQ hardware.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QI26-20  ·  Phase 1 Complete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QI26-20: A Reproducible QUBO–QAOA Benchmark for Generalized Bipartite Assignment</dc:title>
  <dc:subject>Phase-1 Benchmark Results — Standard QAOA vs GM-QAOA on NISQ Hardware</dc:subject>
  <dc:creator>QI26-20 Project</dc:creator>
  <cp:lastModifiedBy>QI26-20 Project</cp:lastModifiedBy>
  <cp:revision>1</cp:revision>
  <dcterms:created xsi:type="dcterms:W3CDTF">2026-08-14T20:44:48Z</dcterms:created>
  <dcterms:modified xsi:type="dcterms:W3CDTF">2026-08-14T20:44:48Z</dcterms:modified>
</cp:coreProperties>
</file>